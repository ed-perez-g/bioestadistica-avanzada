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70" r:id="rId15"/>
    <p:sldId id="269" r:id="rId16"/>
    <p:sldId id="271" r:id="rId17"/>
    <p:sldId id="273" r:id="rId18"/>
    <p:sldId id="272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93" d="100"/>
          <a:sy n="93" d="100"/>
        </p:scale>
        <p:origin x="20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0CBCD-7E92-76B4-E0E5-2132E20B1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96912-AC1C-2A82-7C78-29DF37C5A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EE1E3-4754-0A02-6F6B-8D9BE6B5C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9718C-CD3D-DEAC-4BA6-7A21A2A9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5122-5193-FBFD-2C64-787BC39E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5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316F-A9AE-3B4A-9AE8-CB3208485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77799-BE55-1313-74F7-C5FC26B95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C8050-46A6-3B83-BA51-DEAB0A79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F597D-3BD7-240F-2A7C-FB90ACBEE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41483-A84F-42A9-BFE5-AB711D67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09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CE9A-A7F7-587B-A68E-83266DDF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DF7F3-CBCC-49F8-F597-016CED51F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3C87F-3470-194A-BB7A-58FFE7B4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C5F9E-3365-3597-A5D5-30056C4AA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D8522-CC4F-13B2-FACD-664BC6EE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42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12C2B-9861-8D6B-5166-90E57EE4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D02BF-E737-BF95-7696-CF498D0C3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89A5A-22E2-E8DB-9A8C-B59C52313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87973-CC41-BF08-921B-0FBCC9C9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824D5-4EE5-EAB3-1DCD-87E332D9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46B80-BC63-8E55-9361-BC89A490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70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7A21-FE95-0F07-57B4-C6D622386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B2449-5D40-FCD7-63F8-908C8D6D3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55E6E-90D1-261B-1646-D9D7AF5F7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62D3A-16C7-F97D-3AAB-CD21C83E5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2FE5D-C5E2-5E7D-242B-BE5A8829E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454E1C-C114-129B-4F66-3C7DA11B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8584C-92CD-1DEB-0B4E-8FB08F8F5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77016C-1D80-142B-2F34-1C7C4E37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E05A-5322-C21E-0D91-F83863F4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65D19-D3DA-3A19-BC23-736D17CC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4D6C9-D936-1195-6ECD-A23FD8E1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E161E-2A80-AA02-F7D7-7D4A8B0E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0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F77F9-9B33-55ED-2E87-7427B2E3D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B2E29-A8AD-B966-B151-A4866D02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6DA70-6CD4-D279-A2D1-63C5ADD4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19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0E72-E530-9139-7307-E2D317280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70BDE-8467-550C-F633-DC72B36D1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8CB42-3391-BA1E-3E84-8EC0ABA7A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33DE4-27C5-6FF0-51D2-E535F8FE3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7BB92-868A-1A01-4912-4E25E36D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47396-5538-A154-CF32-CF7C16BD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1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642B-AB2C-4E0C-56A4-784B8611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C3BF2D-E79E-8515-B5A0-412BCE3E0AA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1FBCA-EC03-AF2F-0F61-660E45D33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85E66-B5A0-2CFB-8CE9-80973355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94432-5E9B-576D-F3A4-961766C9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90963-F1A0-C609-03A5-ED1E80EBA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1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3EEED-BFD8-11A9-A71F-3E527FDC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C611A-CA1D-4581-3414-CBA3E0C3C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221C7-676D-A9D0-D2E6-624D79A48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A3145-0112-18BC-ECEB-7C37E63D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F09D7-57D5-76AC-32BC-FDFB8627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4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BCED7-F929-86E2-FE3F-8B313A86F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668ED-417D-AE94-10B4-BD401712D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46C29-3732-A822-A053-29FEC86C6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C22D-F781-D840-B773-32A14CAA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DCDD4-7FD3-97FD-A965-CC6B6832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55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6C859-5570-DE61-C9EE-5FE22D11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F76C5-5E96-FA80-CF41-B9B124A50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862BF-F5E9-582E-0743-0C2E01071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D2461-9295-5F4F-A770-25875D832C7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3CDF5-5EEC-A258-25A8-B697DE44C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BF81C-BD55-7AF3-7A58-BD1E84915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60751-4A30-AD40-9D29-E10652BD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BE67-2E2B-971F-1202-C8BF621776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Seleción</a:t>
            </a:r>
            <a:r>
              <a:rPr lang="en-US" dirty="0"/>
              <a:t> de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F607E-4C25-0CF9-2780-D7B9BF7A26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6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BB11-9357-87CB-8C57-DBB67119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Factores</a:t>
            </a:r>
            <a:r>
              <a:rPr lang="en-US" dirty="0"/>
              <a:t> </a:t>
            </a:r>
            <a:r>
              <a:rPr lang="en-US" dirty="0" err="1"/>
              <a:t>asociados</a:t>
            </a:r>
            <a:r>
              <a:rPr lang="en-US" dirty="0"/>
              <a:t> a la 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3E3B2-F094-817B-5741-0BA0DE752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177"/>
            <a:ext cx="5518533" cy="49166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500 </a:t>
            </a:r>
            <a:r>
              <a:rPr lang="en-US" dirty="0" err="1"/>
              <a:t>pacientes</a:t>
            </a:r>
            <a:r>
              <a:rPr lang="en-US" dirty="0"/>
              <a:t> (</a:t>
            </a:r>
            <a:r>
              <a:rPr lang="en-US" dirty="0" err="1"/>
              <a:t>casos</a:t>
            </a:r>
            <a:r>
              <a:rPr lang="en-US" dirty="0"/>
              <a:t> y </a:t>
            </a:r>
            <a:r>
              <a:rPr lang="en-US" dirty="0" err="1"/>
              <a:t>controles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Edad</a:t>
            </a:r>
          </a:p>
          <a:p>
            <a:pPr lvl="1"/>
            <a:r>
              <a:rPr lang="en-US" dirty="0" err="1"/>
              <a:t>Sexo</a:t>
            </a:r>
            <a:endParaRPr lang="en-US" dirty="0"/>
          </a:p>
          <a:p>
            <a:pPr lvl="1"/>
            <a:r>
              <a:rPr lang="en-US" dirty="0" err="1"/>
              <a:t>Tabaquismo</a:t>
            </a:r>
            <a:endParaRPr lang="en-US" dirty="0"/>
          </a:p>
          <a:p>
            <a:pPr lvl="1"/>
            <a:r>
              <a:rPr lang="en-US" dirty="0"/>
              <a:t>IMC</a:t>
            </a:r>
          </a:p>
          <a:p>
            <a:pPr lvl="1"/>
            <a:r>
              <a:rPr lang="en-US" dirty="0"/>
              <a:t>HLA DRB1 04:01</a:t>
            </a:r>
          </a:p>
          <a:p>
            <a:pPr lvl="1"/>
            <a:r>
              <a:rPr lang="en-US" dirty="0"/>
              <a:t>SNP1</a:t>
            </a:r>
          </a:p>
          <a:p>
            <a:pPr lvl="1"/>
            <a:r>
              <a:rPr lang="en-US" dirty="0"/>
              <a:t>SNP2</a:t>
            </a:r>
          </a:p>
          <a:p>
            <a:pPr lvl="1"/>
            <a:r>
              <a:rPr lang="en-US" dirty="0" err="1"/>
              <a:t>Estatura</a:t>
            </a:r>
            <a:endParaRPr lang="en-US" dirty="0"/>
          </a:p>
          <a:p>
            <a:pPr lvl="1"/>
            <a:r>
              <a:rPr lang="en-US" dirty="0"/>
              <a:t>Peso</a:t>
            </a:r>
          </a:p>
          <a:p>
            <a:pPr lvl="1"/>
            <a:r>
              <a:rPr lang="en-US" dirty="0"/>
              <a:t>Estatus </a:t>
            </a:r>
            <a:r>
              <a:rPr lang="en-US" dirty="0" err="1"/>
              <a:t>socioeconómico</a:t>
            </a:r>
            <a:endParaRPr lang="en-US" dirty="0"/>
          </a:p>
          <a:p>
            <a:pPr lvl="1"/>
            <a:r>
              <a:rPr lang="en-US" dirty="0"/>
              <a:t>Uso de </a:t>
            </a:r>
            <a:r>
              <a:rPr lang="en-US" dirty="0" err="1"/>
              <a:t>transporte</a:t>
            </a:r>
            <a:r>
              <a:rPr lang="en-US" dirty="0"/>
              <a:t> </a:t>
            </a:r>
            <a:r>
              <a:rPr lang="en-US" dirty="0" err="1"/>
              <a:t>publico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56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B476-B894-A047-A86A-9CAE03CA4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modelo</a:t>
            </a:r>
            <a:r>
              <a:rPr lang="en-US" dirty="0"/>
              <a:t> de regression para </a:t>
            </a:r>
            <a:r>
              <a:rPr lang="en-US" dirty="0" err="1"/>
              <a:t>identificar</a:t>
            </a:r>
            <a:r>
              <a:rPr lang="en-US" dirty="0"/>
              <a:t> variables </a:t>
            </a:r>
            <a:r>
              <a:rPr lang="en-US" dirty="0" err="1"/>
              <a:t>asociadas</a:t>
            </a:r>
            <a:r>
              <a:rPr lang="en-US" dirty="0"/>
              <a:t> a la 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99218-73E0-3D0B-C3B0-4DB209C1F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74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3BB54-7676-1F7E-7D08-CEC7635E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Cúantas</a:t>
            </a:r>
            <a:r>
              <a:rPr lang="en-US" dirty="0"/>
              <a:t> variables </a:t>
            </a:r>
            <a:r>
              <a:rPr lang="en-US" dirty="0" err="1"/>
              <a:t>incluir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0E865-6DAA-4878-CCD4-09F88F92E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20239" cy="4351338"/>
          </a:xfrm>
        </p:spPr>
        <p:txBody>
          <a:bodyPr/>
          <a:lstStyle/>
          <a:p>
            <a:r>
              <a:rPr lang="en-US" dirty="0" err="1"/>
              <a:t>Todas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146C4D-8D27-A2EE-875F-1B56F4E70051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0202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Pocas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8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B0F4-5BA7-030F-B3A5-89AD327D0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variables </a:t>
            </a:r>
            <a:r>
              <a:rPr lang="en-US" dirty="0" err="1"/>
              <a:t>incluir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B0A5E-810F-D517-5CC7-7F119426F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173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C73A-2DFA-D5F4-5FC2-F2B210AC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bivariado</a:t>
            </a:r>
            <a:r>
              <a:rPr lang="en-US" dirty="0"/>
              <a:t>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ayuda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45F51-7E54-0658-FA85-1ECD6DF33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30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314C0-93A3-FDB4-D67B-6439B1B6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consejo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nunca</a:t>
            </a:r>
            <a:r>
              <a:rPr lang="en-US" dirty="0"/>
              <a:t> </a:t>
            </a:r>
            <a:r>
              <a:rPr lang="en-US" dirty="0" err="1"/>
              <a:t>falla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F800A-DAF7-46E1-54D9-192F21D44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Incluir</a:t>
            </a:r>
            <a:r>
              <a:rPr lang="en-US" dirty="0"/>
              <a:t> variables con </a:t>
            </a:r>
            <a:r>
              <a:rPr lang="en-US" dirty="0" err="1"/>
              <a:t>plausibilidad</a:t>
            </a:r>
            <a:r>
              <a:rPr lang="en-US" dirty="0"/>
              <a:t> </a:t>
            </a:r>
            <a:r>
              <a:rPr lang="en-US" dirty="0" err="1"/>
              <a:t>biológica</a:t>
            </a:r>
            <a:r>
              <a:rPr lang="en-US" dirty="0"/>
              <a:t> y/o variables con </a:t>
            </a:r>
            <a:r>
              <a:rPr lang="en-US" dirty="0" err="1"/>
              <a:t>asociación</a:t>
            </a:r>
            <a:r>
              <a:rPr lang="en-US" dirty="0"/>
              <a:t> o possible </a:t>
            </a:r>
            <a:r>
              <a:rPr lang="en-US" dirty="0" err="1"/>
              <a:t>asociación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bivariado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338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2D5E-8FC9-C585-D870-DC1A3E15C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Parsimonia</a:t>
            </a:r>
            <a:r>
              <a:rPr lang="en-US" dirty="0"/>
              <a:t>, </a:t>
            </a:r>
            <a:r>
              <a:rPr lang="en-US" dirty="0" err="1"/>
              <a:t>interpretabilidad</a:t>
            </a:r>
            <a:r>
              <a:rPr lang="en-US" dirty="0"/>
              <a:t>, </a:t>
            </a:r>
            <a:r>
              <a:rPr lang="en-US" dirty="0" err="1"/>
              <a:t>sobreajuste</a:t>
            </a:r>
            <a:r>
              <a:rPr lang="en-US" dirty="0"/>
              <a:t>, </a:t>
            </a:r>
            <a:r>
              <a:rPr lang="en-US" dirty="0" err="1"/>
              <a:t>confusores</a:t>
            </a:r>
            <a:r>
              <a:rPr lang="en-US" dirty="0"/>
              <a:t>, </a:t>
            </a:r>
            <a:r>
              <a:rPr lang="en-US" dirty="0" err="1"/>
              <a:t>interacciones</a:t>
            </a:r>
            <a:r>
              <a:rPr lang="en-US" dirty="0"/>
              <a:t> y la 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ACB7-D174-17E5-51A0-107FAF3F9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Todos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factores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de </a:t>
            </a:r>
            <a:r>
              <a:rPr lang="en-US" dirty="0" err="1"/>
              <a:t>tomarse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cuenta</a:t>
            </a:r>
            <a:r>
              <a:rPr lang="en-US" dirty="0"/>
              <a:t> a la hora de </a:t>
            </a:r>
            <a:r>
              <a:rPr lang="en-US" dirty="0" err="1"/>
              <a:t>seleccionar</a:t>
            </a:r>
            <a:r>
              <a:rPr lang="en-US" dirty="0"/>
              <a:t> variables </a:t>
            </a:r>
          </a:p>
        </p:txBody>
      </p:sp>
    </p:spTree>
    <p:extLst>
      <p:ext uri="{BB962C8B-B14F-4D97-AF65-F5344CB8AC3E}">
        <p14:creationId xmlns:p14="http://schemas.microsoft.com/office/powerpoint/2010/main" val="395647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18ADA-670D-2A1B-6D5D-FD987DA56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D17C0-39CD-A68F-92E4-B1EE0EB43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Parsimonia</a:t>
            </a:r>
            <a:r>
              <a:rPr lang="en-US" dirty="0"/>
              <a:t>, </a:t>
            </a:r>
            <a:r>
              <a:rPr lang="en-US" dirty="0" err="1"/>
              <a:t>interpretabilidad</a:t>
            </a:r>
            <a:r>
              <a:rPr lang="en-US" dirty="0"/>
              <a:t>, </a:t>
            </a:r>
            <a:r>
              <a:rPr lang="en-US" dirty="0" err="1"/>
              <a:t>sobreajuste</a:t>
            </a:r>
            <a:r>
              <a:rPr lang="en-US" dirty="0"/>
              <a:t>, </a:t>
            </a:r>
            <a:r>
              <a:rPr lang="en-US" dirty="0" err="1"/>
              <a:t>confusores</a:t>
            </a:r>
            <a:r>
              <a:rPr lang="en-US" dirty="0"/>
              <a:t>, </a:t>
            </a:r>
            <a:r>
              <a:rPr lang="en-US" dirty="0" err="1"/>
              <a:t>interacciones</a:t>
            </a:r>
            <a:r>
              <a:rPr lang="en-US" dirty="0"/>
              <a:t> y la 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577A4-4458-3AFB-7CF2-28871750E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15149" cy="4351338"/>
          </a:xfrm>
        </p:spPr>
        <p:txBody>
          <a:bodyPr/>
          <a:lstStyle/>
          <a:p>
            <a:r>
              <a:rPr lang="en-US" dirty="0" err="1"/>
              <a:t>Parsimonia</a:t>
            </a:r>
            <a:r>
              <a:rPr lang="en-US" dirty="0"/>
              <a:t>,</a:t>
            </a:r>
          </a:p>
          <a:p>
            <a:r>
              <a:rPr lang="en-US" dirty="0" err="1"/>
              <a:t>Colinealidad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interpretabilidad</a:t>
            </a:r>
            <a:r>
              <a:rPr lang="en-US" dirty="0"/>
              <a:t>,</a:t>
            </a:r>
          </a:p>
          <a:p>
            <a:r>
              <a:rPr lang="en-US" dirty="0" err="1"/>
              <a:t>sobreajuste</a:t>
            </a:r>
            <a:r>
              <a:rPr lang="en-US" dirty="0"/>
              <a:t>, </a:t>
            </a:r>
          </a:p>
          <a:p>
            <a:r>
              <a:rPr lang="en-US" dirty="0" err="1"/>
              <a:t>confusores</a:t>
            </a:r>
            <a:r>
              <a:rPr lang="en-US" dirty="0"/>
              <a:t>, </a:t>
            </a:r>
          </a:p>
          <a:p>
            <a:r>
              <a:rPr lang="en-US" dirty="0" err="1"/>
              <a:t>interacciones</a:t>
            </a:r>
            <a:r>
              <a:rPr lang="en-US" dirty="0"/>
              <a:t> </a:t>
            </a:r>
          </a:p>
          <a:p>
            <a:r>
              <a:rPr lang="en-US" dirty="0"/>
              <a:t>y la n</a:t>
            </a:r>
          </a:p>
        </p:txBody>
      </p:sp>
    </p:spTree>
    <p:extLst>
      <p:ext uri="{BB962C8B-B14F-4D97-AF65-F5344CB8AC3E}">
        <p14:creationId xmlns:p14="http://schemas.microsoft.com/office/powerpoint/2010/main" val="1008198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85BEF-CF77-5A1F-CA48-547C8FDF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Uso de </a:t>
            </a:r>
            <a:r>
              <a:rPr lang="en-US" dirty="0" err="1"/>
              <a:t>algoritmos</a:t>
            </a:r>
            <a:r>
              <a:rPr lang="en-US" dirty="0"/>
              <a:t> para la </a:t>
            </a:r>
            <a:r>
              <a:rPr lang="en-US" dirty="0" err="1"/>
              <a:t>selección</a:t>
            </a:r>
            <a:r>
              <a:rPr lang="en-US" dirty="0"/>
              <a:t> de variables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A1101-1063-CF6F-B797-5F0FD1E67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368"/>
            <a:ext cx="3193473" cy="4351338"/>
          </a:xfrm>
        </p:spPr>
        <p:txBody>
          <a:bodyPr/>
          <a:lstStyle/>
          <a:p>
            <a:r>
              <a:rPr lang="en-US" dirty="0"/>
              <a:t>Forward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54B093-C962-3E6B-3B4F-9E09051654CD}"/>
              </a:ext>
            </a:extLst>
          </p:cNvPr>
          <p:cNvSpPr txBox="1">
            <a:spLocks/>
          </p:cNvSpPr>
          <p:nvPr/>
        </p:nvSpPr>
        <p:spPr>
          <a:xfrm>
            <a:off x="4031673" y="1701368"/>
            <a:ext cx="31934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Backward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AC04EE-EF15-7F7B-D6D2-DD0592E6C929}"/>
              </a:ext>
            </a:extLst>
          </p:cNvPr>
          <p:cNvSpPr txBox="1">
            <a:spLocks/>
          </p:cNvSpPr>
          <p:nvPr/>
        </p:nvSpPr>
        <p:spPr>
          <a:xfrm>
            <a:off x="7225146" y="1712048"/>
            <a:ext cx="31934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Stepwise</a:t>
            </a:r>
          </a:p>
        </p:txBody>
      </p:sp>
    </p:spTree>
    <p:extLst>
      <p:ext uri="{BB962C8B-B14F-4D97-AF65-F5344CB8AC3E}">
        <p14:creationId xmlns:p14="http://schemas.microsoft.com/office/powerpoint/2010/main" val="2814909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96A8-08E4-E792-9DA9-2BBB3912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criterios</a:t>
            </a:r>
            <a:r>
              <a:rPr lang="en-US" dirty="0"/>
              <a:t>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utilizar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11A15-E9AF-12EA-B0D2-BFF99E303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Valores de p</a:t>
            </a:r>
          </a:p>
          <a:p>
            <a:r>
              <a:rPr lang="en-US" dirty="0"/>
              <a:t>AIC</a:t>
            </a:r>
          </a:p>
          <a:p>
            <a:r>
              <a:rPr lang="en-US" dirty="0"/>
              <a:t>BIC</a:t>
            </a:r>
          </a:p>
          <a:p>
            <a:r>
              <a:rPr lang="en-US" dirty="0"/>
              <a:t>ANOVA para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anidados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625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E98F-5469-A412-BC73-C97EA333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60FDE-1163-AB8B-2A9A-AD0C1405E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040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87CEF-09F6-FE13-5BED-6FF74F3F6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Ridge, lasso y net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6DE28-13DA-C1F8-5435-9751E72D3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8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4BBFC-E5D9-1F9C-B792-358278A6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592FB-21B3-2094-24D2-4ADF0AE3E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73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F331-838D-AB02-97EE-9E1C5FE01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EE0B4-0297-EEDC-70AB-BB0929575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33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29E3-2DE0-062F-AB62-FE0BAF1E6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A9458-6360-7EB2-E929-1C1985770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24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0AF6-4F1D-CEE5-229B-5DE19AC4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bootstrapping, Cross validation, stability selection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BD0EC-81A2-5406-AB8C-13EA5EE19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6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8BB9-1B38-3966-EB82-1DCC2EA9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Crossvalidation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313AF-F6E7-76EB-C316-F8965FCEB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17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5CE6-F0B5-1813-ECE9-F02DF24CC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43AF-A285-5CA8-20B8-0E801A600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30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17136-3415-15BA-6F28-96500FAA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F7E57-760B-0F0F-8AAE-CEAEA87F2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19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183</Words>
  <Application>Microsoft Macintosh PowerPoint</Application>
  <PresentationFormat>Widescreen</PresentationFormat>
  <Paragraphs>49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Seleción de variables</vt:lpstr>
      <vt:lpstr>Factores asociados a la AR</vt:lpstr>
      <vt:lpstr>Un modelo de regression para identificar variables asociadas a la AR</vt:lpstr>
      <vt:lpstr>¿Cúantas variables incluir?</vt:lpstr>
      <vt:lpstr>¿Qué variables incluir?</vt:lpstr>
      <vt:lpstr>El análisis bivariado siempre ayuda</vt:lpstr>
      <vt:lpstr>El consejo que casi nunca falla</vt:lpstr>
      <vt:lpstr>Parsimonia, interpretabilidad, sobreajuste, confusores, interacciones y la n</vt:lpstr>
      <vt:lpstr>Parsimonia, interpretabilidad, sobreajuste, confusores, interacciones y la n</vt:lpstr>
      <vt:lpstr>Uso de algoritmos para la selección de variables </vt:lpstr>
      <vt:lpstr>¿Qué criterios se pueden utilizar?</vt:lpstr>
      <vt:lpstr>PowerPoint Presentation</vt:lpstr>
      <vt:lpstr>Ridge, lasso y net regression</vt:lpstr>
      <vt:lpstr>Lasso</vt:lpstr>
      <vt:lpstr>Ridge</vt:lpstr>
      <vt:lpstr>Net</vt:lpstr>
      <vt:lpstr>bootstrapping, Cross validation, stability selection</vt:lpstr>
      <vt:lpstr>Crossvalidation</vt:lpstr>
      <vt:lpstr>bootstrapping</vt:lpstr>
      <vt:lpstr>Stability selection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Edsaul Perez Guerrero</dc:creator>
  <cp:lastModifiedBy>Edsaul Perez Guerrero</cp:lastModifiedBy>
  <cp:revision>2</cp:revision>
  <dcterms:created xsi:type="dcterms:W3CDTF">2026-10-12T23:48:52Z</dcterms:created>
  <dcterms:modified xsi:type="dcterms:W3CDTF">2026-10-13T13:37:10Z</dcterms:modified>
</cp:coreProperties>
</file>