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01"/>
    <p:restoredTop sz="94659"/>
  </p:normalViewPr>
  <p:slideViewPr>
    <p:cSldViewPr snapToGrid="0">
      <p:cViewPr varScale="1">
        <p:scale>
          <a:sx n="66" d="100"/>
          <a:sy n="66" d="100"/>
        </p:scale>
        <p:origin x="224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4CF4-EA95-2119-57EB-C89044BF7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C2EBF-7F59-2EE1-2758-C7B7DA3AF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03BED-2C3B-6E3C-46D0-5CF6B43F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DB646-2067-3652-886E-4C828424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CE25-6F30-F03C-394E-FEF6EC06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1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DC43-D759-4A55-9F5E-2282C1C0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9EC8-C7D7-7F8F-EB80-BF3ED579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71004-53AC-FA5D-7344-7C813D15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6B7FC-9D98-EA8E-F0E3-FCE81878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220D-D0B9-6414-3DC0-C6FBAB49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4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69C8-988B-61AE-E0FA-94B03D22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0D7C6-221B-ED2B-79A7-DCCCC1C81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B4DF7-F6C3-2B6C-D3B6-E4AA6CA0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7E8AA-2414-3D30-C79E-F251CFA4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D43E9-4FF8-5200-76AF-C522DAED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04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EE6A-7F27-BB95-101F-D27C4358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BAD7D-EF5D-0CFB-3B37-4ED72E01A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E254B-318E-8E5B-F140-3FD01D2EB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E8726-0811-4524-20B6-AC2A8797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D182A-0F69-8615-096C-6D13F055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39FC-6E1F-0ADD-6326-DA52A3D6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5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EBCA-6529-59EF-44CA-1B4E3DD8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93B51-0772-1636-DDF9-DE5A31362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CD986-F3EF-4668-2A9D-325B8D100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7A859-2ED3-241C-D667-1C8CC14B7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E9BC2-9D44-38F4-5315-B5DDEBEA9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85E53-EB2B-C801-B33A-068B2D9D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6CED4-D906-5DF4-0231-801AD34FC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5202F-75FE-A418-34A0-017132C6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6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24D0-E39C-BDE6-FC2C-D001BE12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407AC-3E9A-3EBD-26FE-B69CA31F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41F17-5D67-8130-C18B-AFD9D9FE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B568A-7A11-679E-BE5E-2653C06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6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3B899-8E84-D0F5-40B0-A6D2172D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95282-CC0C-BABA-A4C7-345CA6D1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6005E-FCD9-C010-1B44-FF4AA10D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0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B095-D94C-677E-31EA-04A018E9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4D39-2957-2A7B-2BD3-ACA221FF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184A7-6BA7-C4C6-5986-D0CA5D797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9D3C3-A94A-C4C3-A703-9678149D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73568-F86B-D999-826F-1C000F72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B9D1C-7A5D-7F28-CD5A-C6066388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AE2F-BFC9-FA4E-E633-4694519A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A11D72-AA1F-18E3-726B-FA060707E0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1775-BF06-F149-1E81-C101E36BD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4B31D-890B-F491-1E46-DDCCD6D2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A6D98-9139-B984-E979-EEA7C5C0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9470A-359D-4D9D-8AEA-E151390D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A1EE-3083-80A8-260D-D2C063EA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77F83-33CD-4E2A-4A70-7DAD64316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56498-80A7-23E6-0ED8-AD6F6EC4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9249-D702-605B-2917-6298B785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325E8-F941-8886-DA2D-3B778FF0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B8BAF-1EF5-577D-0DF8-6412AE92C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267C5-989D-8DBE-8270-D1D51D307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76A4C-B0D8-84BC-58E3-0646B205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0AB1-9044-3946-7D04-BACA05F0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38366-739B-BBD2-45E9-C3562EB3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4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5B052-1C6D-481E-E7F6-27004A01E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5AA42-4BB8-0DAD-23CF-D14C49E9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544D-AAF5-4DF4-1F93-C900215D3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158CF-4CA1-5D45-8A4C-C9C61BC807A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E0331-0F3C-19C7-8E8D-A5AEBEB64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C87E3-7F99-D30E-82E5-C6FCA1D3D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B3AC0-82F9-754C-B4F0-D398B9A1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6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DF49-67B7-8F83-3B29-D4E4DD75C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pendientes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EBB88-AF8A-BDB0-8694-9FB24E2CC9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lineales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6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1736-70B2-714A-58D2-E75A022E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comparacion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anidados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DE7A-9736-3EC4-257D-19A5E0E7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 ANOVA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ayudar</a:t>
            </a:r>
            <a:r>
              <a:rPr lang="en-US" dirty="0"/>
              <a:t> a </a:t>
            </a:r>
            <a:r>
              <a:rPr lang="en-US" dirty="0" err="1"/>
              <a:t>comparar</a:t>
            </a:r>
            <a:r>
              <a:rPr lang="en-US" dirty="0"/>
              <a:t> el </a:t>
            </a:r>
            <a:r>
              <a:rPr lang="en-US" dirty="0" err="1"/>
              <a:t>desempeño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secuenciales</a:t>
            </a:r>
            <a:r>
              <a:rPr lang="en-US" dirty="0"/>
              <a:t> (</a:t>
            </a:r>
            <a:r>
              <a:rPr lang="en-US" dirty="0" err="1"/>
              <a:t>anidados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modelo_nulo</a:t>
            </a:r>
            <a:r>
              <a:rPr lang="en-US" dirty="0"/>
              <a:t> &lt;- </a:t>
            </a:r>
            <a:r>
              <a:rPr lang="en-US" dirty="0" err="1"/>
              <a:t>lm</a:t>
            </a:r>
            <a:r>
              <a:rPr lang="en-US" dirty="0"/>
              <a:t>(</a:t>
            </a:r>
            <a:r>
              <a:rPr lang="en-US" dirty="0" err="1"/>
              <a:t>Tension_Arterial</a:t>
            </a:r>
            <a:r>
              <a:rPr lang="en-US" dirty="0"/>
              <a:t> ~ 1, data = </a:t>
            </a:r>
            <a:r>
              <a:rPr lang="en-US" dirty="0" err="1"/>
              <a:t>df</a:t>
            </a:r>
            <a:r>
              <a:rPr lang="en-US" dirty="0"/>
              <a:t>)   # solo </a:t>
            </a:r>
            <a:r>
              <a:rPr lang="en-US" dirty="0" err="1"/>
              <a:t>intercepto</a:t>
            </a:r>
            <a:endParaRPr lang="en-US" dirty="0"/>
          </a:p>
          <a:p>
            <a:r>
              <a:rPr lang="en-US" dirty="0" err="1"/>
              <a:t>anova</a:t>
            </a:r>
            <a:r>
              <a:rPr lang="en-US" dirty="0"/>
              <a:t>(</a:t>
            </a:r>
            <a:r>
              <a:rPr lang="en-US" dirty="0" err="1"/>
              <a:t>modelo_nulo</a:t>
            </a:r>
            <a:r>
              <a:rPr lang="en-US" dirty="0"/>
              <a:t>, </a:t>
            </a:r>
            <a:r>
              <a:rPr lang="en-US" dirty="0" err="1"/>
              <a:t>modelo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B26A0-C5CE-3EB2-A999-62B57AA51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072" y="5511800"/>
            <a:ext cx="41148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5EAC-70F1-1777-7B19-F2DB9280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ANOVA </a:t>
            </a:r>
            <a:r>
              <a:rPr lang="en-US" dirty="0" err="1"/>
              <a:t>en</a:t>
            </a:r>
            <a:r>
              <a:rPr lang="en-US" dirty="0"/>
              <a:t> 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4E258-8E67-A530-5BA2-05CF2B5CA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12" y="1690688"/>
            <a:ext cx="8670524" cy="50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3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A54F-6AEB-8E5C-837C-237E5C06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872A-BEF0-BED8-FC20-90E93CE4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ANOVA </a:t>
            </a:r>
            <a:r>
              <a:rPr lang="en-US" dirty="0" err="1"/>
              <a:t>en</a:t>
            </a:r>
            <a:r>
              <a:rPr lang="en-US" dirty="0"/>
              <a:t> 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17A4BB-8572-F416-A701-A3DBFADB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15472"/>
            <a:ext cx="10219987" cy="25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9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DB02-1649-C4A8-607F-96C4C210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con SC </a:t>
            </a:r>
            <a:r>
              <a:rPr lang="en-US" dirty="0" err="1"/>
              <a:t>tipo</a:t>
            </a:r>
            <a:r>
              <a:rPr lang="en-US" dirty="0"/>
              <a:t>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D96F-6518-523C-E58D-AA30B2ECD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6037"/>
            <a:ext cx="10515600" cy="294885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secuencialmente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¿</a:t>
            </a:r>
            <a:r>
              <a:rPr lang="en-US" dirty="0" err="1"/>
              <a:t>Cuánto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A?</a:t>
            </a:r>
          </a:p>
          <a:p>
            <a:pPr lvl="0"/>
            <a:r>
              <a:rPr lang="en-US" dirty="0" err="1"/>
              <a:t>Después</a:t>
            </a:r>
            <a:r>
              <a:rPr lang="en-US" dirty="0"/>
              <a:t> de </a:t>
            </a:r>
            <a:r>
              <a:rPr lang="en-US" dirty="0" err="1"/>
              <a:t>haber</a:t>
            </a:r>
            <a:r>
              <a:rPr lang="en-US" dirty="0"/>
              <a:t> </a:t>
            </a:r>
            <a:r>
              <a:rPr lang="en-US" dirty="0" err="1"/>
              <a:t>incluido</a:t>
            </a:r>
            <a:r>
              <a:rPr lang="en-US" dirty="0"/>
              <a:t> A, ¿</a:t>
            </a:r>
            <a:r>
              <a:rPr lang="en-US" dirty="0" err="1"/>
              <a:t>cuánto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B?</a:t>
            </a:r>
          </a:p>
          <a:p>
            <a:pPr lvl="0"/>
            <a:r>
              <a:rPr lang="en-US" dirty="0" err="1"/>
              <a:t>Después</a:t>
            </a:r>
            <a:r>
              <a:rPr lang="en-US" dirty="0"/>
              <a:t> de A + B, ¿</a:t>
            </a:r>
            <a:r>
              <a:rPr lang="en-US" dirty="0" err="1"/>
              <a:t>cuánto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C?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FDBF2-D725-7648-A52E-570677AAEC05}"/>
              </a:ext>
            </a:extLst>
          </p:cNvPr>
          <p:cNvSpPr/>
          <p:nvPr/>
        </p:nvSpPr>
        <p:spPr>
          <a:xfrm>
            <a:off x="2285999" y="1690688"/>
            <a:ext cx="6941127" cy="1503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/>
              <a:t>modelo</a:t>
            </a:r>
            <a:r>
              <a:rPr lang="en-US" sz="2800" dirty="0"/>
              <a:t> &lt;- </a:t>
            </a:r>
            <a:r>
              <a:rPr lang="en-US" sz="2800" dirty="0" err="1"/>
              <a:t>lm</a:t>
            </a:r>
            <a:r>
              <a:rPr lang="en-US" sz="2800" dirty="0"/>
              <a:t>(y ~ A + B + C, data = </a:t>
            </a:r>
            <a:r>
              <a:rPr lang="en-US" sz="2800" dirty="0" err="1"/>
              <a:t>datos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anova</a:t>
            </a:r>
            <a:r>
              <a:rPr lang="en-US" sz="2800" dirty="0"/>
              <a:t>(</a:t>
            </a:r>
            <a:r>
              <a:rPr lang="en-US" sz="2800" dirty="0" err="1"/>
              <a:t>modelo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012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4EC75-152A-76E1-AF7A-FF292F5B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E587-0E54-8AC4-0D42-9D805186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con SC </a:t>
            </a:r>
            <a:r>
              <a:rPr lang="en-US" dirty="0" err="1"/>
              <a:t>tipo</a:t>
            </a:r>
            <a:r>
              <a:rPr lang="en-US" dirty="0"/>
              <a:t>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CE685-3E59-E7D6-37C2-8FC4C0645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3429000"/>
            <a:ext cx="10515600" cy="33181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 No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secuancialmente</a:t>
            </a:r>
            <a:r>
              <a:rPr lang="en-US" dirty="0"/>
              <a:t>. </a:t>
            </a:r>
          </a:p>
          <a:p>
            <a:r>
              <a:rPr lang="en-US" dirty="0" err="1"/>
              <a:t>Hace</a:t>
            </a:r>
            <a:r>
              <a:rPr lang="en-US" dirty="0"/>
              <a:t> lo </a:t>
            </a:r>
            <a:r>
              <a:rPr lang="en-US" dirty="0" err="1"/>
              <a:t>siguiente</a:t>
            </a:r>
            <a:r>
              <a:rPr lang="en-US" dirty="0"/>
              <a:t>:</a:t>
            </a:r>
          </a:p>
          <a:p>
            <a:r>
              <a:rPr lang="en-US" dirty="0"/>
              <a:t>A|B,C</a:t>
            </a:r>
          </a:p>
          <a:p>
            <a:r>
              <a:rPr lang="en-US" dirty="0"/>
              <a:t>B|A,C</a:t>
            </a:r>
          </a:p>
          <a:p>
            <a:r>
              <a:rPr lang="en-US" dirty="0"/>
              <a:t>C|A,B</a:t>
            </a:r>
          </a:p>
          <a:p>
            <a:r>
              <a:rPr lang="en-US" dirty="0"/>
              <a:t>Es </a:t>
            </a:r>
            <a:r>
              <a:rPr lang="en-US" dirty="0" err="1"/>
              <a:t>decir</a:t>
            </a:r>
            <a:r>
              <a:rPr lang="en-US" dirty="0"/>
              <a:t>,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dirty="0" err="1"/>
              <a:t>efecto</a:t>
            </a:r>
            <a:r>
              <a:rPr lang="en-US" b="1" dirty="0"/>
              <a:t> principal se </a:t>
            </a:r>
            <a:r>
              <a:rPr lang="en-US" b="1" dirty="0" err="1"/>
              <a:t>ajusta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demás</a:t>
            </a:r>
            <a:r>
              <a:rPr lang="en-US" b="1" dirty="0"/>
              <a:t> </a:t>
            </a:r>
            <a:r>
              <a:rPr lang="en-US" b="1" dirty="0" err="1"/>
              <a:t>efectos</a:t>
            </a:r>
            <a:r>
              <a:rPr lang="en-US" b="1" dirty="0"/>
              <a:t> </a:t>
            </a:r>
            <a:r>
              <a:rPr lang="en-US" b="1" dirty="0" err="1"/>
              <a:t>principales</a:t>
            </a:r>
            <a:r>
              <a:rPr lang="en-US" dirty="0"/>
              <a:t>. Type II </a:t>
            </a:r>
            <a:r>
              <a:rPr lang="en-US" dirty="0" err="1"/>
              <a:t>respeta</a:t>
            </a:r>
            <a:r>
              <a:rPr lang="en-US" dirty="0"/>
              <a:t> el </a:t>
            </a:r>
            <a:r>
              <a:rPr lang="en-US" b="1" dirty="0"/>
              <a:t>principio de </a:t>
            </a:r>
            <a:r>
              <a:rPr lang="en-US" b="1" dirty="0" err="1"/>
              <a:t>marginalidad</a:t>
            </a:r>
            <a:r>
              <a:rPr lang="en-US" dirty="0"/>
              <a:t>. No </a:t>
            </a:r>
            <a:r>
              <a:rPr lang="en-US" dirty="0" err="1"/>
              <a:t>prueba</a:t>
            </a:r>
            <a:r>
              <a:rPr lang="en-US" dirty="0"/>
              <a:t> un </a:t>
            </a:r>
            <a:r>
              <a:rPr lang="en-US" dirty="0" err="1"/>
              <a:t>efecto</a:t>
            </a:r>
            <a:r>
              <a:rPr lang="en-US" dirty="0"/>
              <a:t> principal </a:t>
            </a:r>
            <a:r>
              <a:rPr lang="en-US" dirty="0" err="1"/>
              <a:t>ajustándolo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interacción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lo </a:t>
            </a:r>
            <a:r>
              <a:rPr lang="en-US" dirty="0" err="1"/>
              <a:t>contiene</a:t>
            </a:r>
            <a:r>
              <a:rPr lang="en-US" dirty="0"/>
              <a:t>.</a:t>
            </a:r>
          </a:p>
          <a:p>
            <a:r>
              <a:rPr lang="en-US" dirty="0"/>
              <a:t>Type II </a:t>
            </a:r>
            <a:r>
              <a:rPr lang="en-US" dirty="0" err="1"/>
              <a:t>suele</a:t>
            </a:r>
            <a:r>
              <a:rPr lang="en-US" dirty="0"/>
              <a:t> ser </a:t>
            </a:r>
            <a:r>
              <a:rPr lang="en-US" dirty="0" err="1"/>
              <a:t>especialmente</a:t>
            </a:r>
            <a:r>
              <a:rPr lang="en-US" dirty="0"/>
              <a:t> </a:t>
            </a:r>
            <a:r>
              <a:rPr lang="en-US" dirty="0" err="1"/>
              <a:t>apropiado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b="1" dirty="0"/>
              <a:t>no hay </a:t>
            </a:r>
            <a:r>
              <a:rPr lang="en-US" b="1" dirty="0" err="1"/>
              <a:t>interacciones</a:t>
            </a:r>
            <a:r>
              <a:rPr lang="en-US" b="1" dirty="0"/>
              <a:t> de </a:t>
            </a:r>
            <a:r>
              <a:rPr lang="en-US" b="1" dirty="0" err="1"/>
              <a:t>interés</a:t>
            </a:r>
            <a:r>
              <a:rPr lang="en-US" b="1" dirty="0"/>
              <a:t>/</a:t>
            </a:r>
            <a:r>
              <a:rPr lang="en-US" b="1" dirty="0" err="1"/>
              <a:t>importantes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D008E-CCD5-6F0B-5E9F-A15FB7A611BF}"/>
              </a:ext>
            </a:extLst>
          </p:cNvPr>
          <p:cNvSpPr/>
          <p:nvPr/>
        </p:nvSpPr>
        <p:spPr>
          <a:xfrm>
            <a:off x="2285999" y="1690688"/>
            <a:ext cx="6941127" cy="1503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/>
              <a:t>modelo</a:t>
            </a:r>
            <a:r>
              <a:rPr lang="en-US" sz="2800" dirty="0"/>
              <a:t> &lt;- </a:t>
            </a:r>
            <a:r>
              <a:rPr lang="en-US" sz="2800" dirty="0" err="1"/>
              <a:t>lm</a:t>
            </a:r>
            <a:r>
              <a:rPr lang="en-US" sz="2800" dirty="0"/>
              <a:t>(y ~ A + B + C, data = </a:t>
            </a:r>
            <a:r>
              <a:rPr lang="en-US" sz="2800" dirty="0" err="1"/>
              <a:t>datos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anova</a:t>
            </a:r>
            <a:r>
              <a:rPr lang="en-US" sz="2800" dirty="0"/>
              <a:t>(</a:t>
            </a:r>
            <a:r>
              <a:rPr lang="en-US" sz="2800" dirty="0" err="1"/>
              <a:t>modelo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308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0701-DF96-061B-4F4B-A556D51F5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9772-8C0A-1025-EEE9-1A3C13D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con SC </a:t>
            </a:r>
            <a:r>
              <a:rPr lang="en-US" dirty="0" err="1"/>
              <a:t>tipo</a:t>
            </a:r>
            <a:r>
              <a:rPr lang="en-US" dirty="0"/>
              <a:t>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CA06E-AF1C-6458-FAC3-84425420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3429000"/>
            <a:ext cx="10515600" cy="3318164"/>
          </a:xfrm>
        </p:spPr>
        <p:txBody>
          <a:bodyPr>
            <a:normAutofit/>
          </a:bodyPr>
          <a:lstStyle/>
          <a:p>
            <a:r>
              <a:rPr lang="en-US" dirty="0" err="1"/>
              <a:t>Aquí</a:t>
            </a:r>
            <a:r>
              <a:rPr lang="en-US" dirty="0"/>
              <a:t>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dirty="0" err="1"/>
              <a:t>término</a:t>
            </a:r>
            <a:r>
              <a:rPr lang="en-US" b="1" dirty="0"/>
              <a:t> se </a:t>
            </a:r>
            <a:r>
              <a:rPr lang="en-US" b="1" dirty="0" err="1"/>
              <a:t>evalúa</a:t>
            </a:r>
            <a:r>
              <a:rPr lang="en-US" b="1" dirty="0"/>
              <a:t> </a:t>
            </a:r>
            <a:r>
              <a:rPr lang="en-US" b="1" dirty="0" err="1"/>
              <a:t>considerando</a:t>
            </a:r>
            <a:r>
              <a:rPr lang="en-US" b="1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demás</a:t>
            </a:r>
            <a:r>
              <a:rPr lang="en-US" b="1" dirty="0"/>
              <a:t> </a:t>
            </a:r>
            <a:r>
              <a:rPr lang="en-US" b="1" dirty="0" err="1"/>
              <a:t>términos</a:t>
            </a:r>
            <a:r>
              <a:rPr lang="en-US" b="1" dirty="0"/>
              <a:t> del </a:t>
            </a:r>
            <a:r>
              <a:rPr lang="en-US" b="1" dirty="0" err="1"/>
              <a:t>modelo</a:t>
            </a:r>
            <a:r>
              <a:rPr lang="en-US" dirty="0"/>
              <a:t>, </a:t>
            </a:r>
            <a:r>
              <a:rPr lang="en-US" dirty="0" err="1"/>
              <a:t>incluidas</a:t>
            </a:r>
            <a:r>
              <a:rPr lang="en-US" dirty="0"/>
              <a:t> las </a:t>
            </a:r>
            <a:r>
              <a:rPr lang="en-US" dirty="0" err="1"/>
              <a:t>interacciones</a:t>
            </a:r>
            <a:r>
              <a:rPr lang="en-US" dirty="0"/>
              <a:t> </a:t>
            </a:r>
            <a:r>
              <a:rPr lang="en-US" dirty="0" err="1"/>
              <a:t>apropiado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b="1" dirty="0"/>
              <a:t>no hay </a:t>
            </a:r>
            <a:r>
              <a:rPr lang="en-US" b="1" dirty="0" err="1"/>
              <a:t>interacciones</a:t>
            </a:r>
            <a:r>
              <a:rPr lang="en-US" b="1" dirty="0"/>
              <a:t> de </a:t>
            </a:r>
            <a:r>
              <a:rPr lang="en-US" b="1" dirty="0" err="1"/>
              <a:t>interés</a:t>
            </a:r>
            <a:r>
              <a:rPr lang="en-US" b="1" dirty="0"/>
              <a:t>/</a:t>
            </a:r>
            <a:r>
              <a:rPr lang="en-US" b="1" dirty="0" err="1"/>
              <a:t>importantes</a:t>
            </a:r>
            <a:endParaRPr lang="en-US" b="1" dirty="0"/>
          </a:p>
          <a:p>
            <a:r>
              <a:rPr lang="en-US" b="1" dirty="0" err="1"/>
              <a:t>Comparado</a:t>
            </a:r>
            <a:r>
              <a:rPr lang="en-US" b="1" dirty="0"/>
              <a:t> con el </a:t>
            </a:r>
            <a:r>
              <a:rPr lang="en-US" b="1" dirty="0" err="1"/>
              <a:t>tipo</a:t>
            </a:r>
            <a:r>
              <a:rPr lang="en-US" b="1" dirty="0"/>
              <a:t> II: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interacción</a:t>
            </a:r>
            <a:r>
              <a:rPr lang="en-US" dirty="0"/>
              <a:t> </a:t>
            </a:r>
            <a:r>
              <a:rPr lang="en-US" dirty="0" err="1"/>
              <a:t>aporta</a:t>
            </a:r>
            <a:r>
              <a:rPr lang="en-US" dirty="0"/>
              <a:t> </a:t>
            </a:r>
            <a:r>
              <a:rPr lang="en-US" dirty="0" err="1"/>
              <a:t>evidencia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considerados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demás</a:t>
            </a:r>
            <a:r>
              <a:rPr lang="en-US" dirty="0"/>
              <a:t> </a:t>
            </a:r>
            <a:r>
              <a:rPr lang="en-US" dirty="0" err="1"/>
              <a:t>términos</a:t>
            </a:r>
            <a:r>
              <a:rPr lang="en-US" dirty="0"/>
              <a:t> </a:t>
            </a:r>
            <a:r>
              <a:rPr lang="en-US" dirty="0" err="1"/>
              <a:t>incluidos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modelo</a:t>
            </a:r>
            <a:endParaRPr lang="en-US" b="1" dirty="0"/>
          </a:p>
          <a:p>
            <a:r>
              <a:rPr lang="en-US" b="1" dirty="0"/>
              <a:t>Si el </a:t>
            </a:r>
            <a:r>
              <a:rPr lang="en-US" b="1" dirty="0" err="1"/>
              <a:t>modelo</a:t>
            </a:r>
            <a:r>
              <a:rPr lang="en-US" b="1" dirty="0"/>
              <a:t> es </a:t>
            </a:r>
            <a:r>
              <a:rPr lang="en-US" b="1" dirty="0" err="1"/>
              <a:t>balanceado</a:t>
            </a:r>
            <a:r>
              <a:rPr lang="en-US" b="1" dirty="0"/>
              <a:t> da el </a:t>
            </a:r>
            <a:r>
              <a:rPr lang="en-US" b="1" dirty="0" err="1"/>
              <a:t>mismo</a:t>
            </a:r>
            <a:r>
              <a:rPr lang="en-US" b="1" dirty="0"/>
              <a:t> </a:t>
            </a:r>
            <a:r>
              <a:rPr lang="en-US" b="1" dirty="0" err="1"/>
              <a:t>resultado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tipo</a:t>
            </a:r>
            <a:r>
              <a:rPr lang="en-US" b="1" dirty="0"/>
              <a:t> II.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BBD77-231D-4334-ACC7-AEAC38241ABB}"/>
              </a:ext>
            </a:extLst>
          </p:cNvPr>
          <p:cNvSpPr/>
          <p:nvPr/>
        </p:nvSpPr>
        <p:spPr>
          <a:xfrm>
            <a:off x="2285999" y="1690688"/>
            <a:ext cx="6941127" cy="1503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/>
              <a:t>modelo</a:t>
            </a:r>
            <a:r>
              <a:rPr lang="en-US" sz="2800" dirty="0"/>
              <a:t> &lt;- </a:t>
            </a:r>
            <a:r>
              <a:rPr lang="en-US" sz="2800" dirty="0" err="1"/>
              <a:t>lm</a:t>
            </a:r>
            <a:r>
              <a:rPr lang="en-US" sz="2800" dirty="0"/>
              <a:t>(y ~ A* B * C, data = </a:t>
            </a:r>
            <a:r>
              <a:rPr lang="en-US" sz="2800" dirty="0" err="1"/>
              <a:t>datos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anova</a:t>
            </a:r>
            <a:r>
              <a:rPr lang="en-US" sz="2800" dirty="0"/>
              <a:t>(</a:t>
            </a:r>
            <a:r>
              <a:rPr lang="en-US" sz="2800" dirty="0" err="1"/>
              <a:t>modelo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076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81D5-2B98-775B-59B8-14378BB5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y BIC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B6563-7C73-F934-619E-921BD0E73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05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91402-26A6-2396-AAB1-03DF81C0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E99B-0F68-6170-D6F6-9E06CE96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y BIC </a:t>
            </a:r>
            <a:r>
              <a:rPr lang="en-US" dirty="0" err="1"/>
              <a:t>comparan</a:t>
            </a:r>
            <a:r>
              <a:rPr lang="en-US" dirty="0"/>
              <a:t>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DC9B-CDED-76FF-2A23-C7F111259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¿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consigue</a:t>
            </a:r>
            <a:r>
              <a:rPr lang="en-US" b="1" dirty="0"/>
              <a:t> un </a:t>
            </a:r>
            <a:r>
              <a:rPr lang="en-US" b="1" dirty="0" err="1"/>
              <a:t>buen</a:t>
            </a:r>
            <a:r>
              <a:rPr lang="en-US" b="1" dirty="0"/>
              <a:t> </a:t>
            </a:r>
            <a:r>
              <a:rPr lang="en-US" b="1" dirty="0" err="1"/>
              <a:t>ajuste</a:t>
            </a:r>
            <a:r>
              <a:rPr lang="en-US" b="1" dirty="0"/>
              <a:t> sin </a:t>
            </a:r>
            <a:r>
              <a:rPr lang="en-US" b="1" dirty="0" err="1"/>
              <a:t>volverse</a:t>
            </a:r>
            <a:r>
              <a:rPr lang="en-US" b="1" dirty="0"/>
              <a:t> </a:t>
            </a:r>
            <a:r>
              <a:rPr lang="en-US" b="1" dirty="0" err="1"/>
              <a:t>innecesariamente</a:t>
            </a:r>
            <a:r>
              <a:rPr lang="en-US" b="1" dirty="0"/>
              <a:t> </a:t>
            </a:r>
            <a:r>
              <a:rPr lang="en-US" b="1" dirty="0" err="1"/>
              <a:t>complejo</a:t>
            </a:r>
            <a:r>
              <a:rPr lang="en-US" b="1" dirty="0"/>
              <a:t>?</a:t>
            </a:r>
            <a:endParaRPr lang="en-US" dirty="0"/>
          </a:p>
          <a:p>
            <a:r>
              <a:rPr lang="en-US" b="1" dirty="0"/>
              <a:t>2. AIC — Akaike Information Criterion</a:t>
            </a:r>
          </a:p>
          <a:p>
            <a:r>
              <a:rPr lang="en-US" dirty="0"/>
              <a:t>El AIC se define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r>
              <a:rPr lang="en-US" dirty="0"/>
              <a:t>AIC=-2log(L)+2k</a:t>
            </a:r>
          </a:p>
          <a:p>
            <a:r>
              <a:rPr lang="en-US" b="1" dirty="0"/>
              <a:t>Menor AIC = </a:t>
            </a: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preferido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0263-82A9-D097-C351-C4923D87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y BIC </a:t>
            </a:r>
            <a:r>
              <a:rPr lang="en-US" dirty="0" err="1"/>
              <a:t>comparan</a:t>
            </a:r>
            <a:r>
              <a:rPr lang="en-US" dirty="0"/>
              <a:t>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36A7-B403-BD4D-75D8-CA8A58F3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¿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consigue</a:t>
            </a:r>
            <a:r>
              <a:rPr lang="en-US" b="1" dirty="0"/>
              <a:t> un </a:t>
            </a:r>
            <a:r>
              <a:rPr lang="en-US" b="1" dirty="0" err="1"/>
              <a:t>buen</a:t>
            </a:r>
            <a:r>
              <a:rPr lang="en-US" b="1" dirty="0"/>
              <a:t> </a:t>
            </a:r>
            <a:r>
              <a:rPr lang="en-US" b="1" dirty="0" err="1"/>
              <a:t>ajuste</a:t>
            </a:r>
            <a:r>
              <a:rPr lang="en-US" b="1" dirty="0"/>
              <a:t> sin </a:t>
            </a:r>
            <a:r>
              <a:rPr lang="en-US" b="1" dirty="0" err="1"/>
              <a:t>volverse</a:t>
            </a:r>
            <a:r>
              <a:rPr lang="en-US" b="1" dirty="0"/>
              <a:t> </a:t>
            </a:r>
            <a:r>
              <a:rPr lang="en-US" b="1" dirty="0" err="1"/>
              <a:t>innecesariamente</a:t>
            </a:r>
            <a:r>
              <a:rPr lang="en-US" b="1" dirty="0"/>
              <a:t> </a:t>
            </a:r>
            <a:r>
              <a:rPr lang="en-US" b="1" dirty="0" err="1"/>
              <a:t>complejo</a:t>
            </a:r>
            <a:r>
              <a:rPr lang="en-US" b="1" dirty="0"/>
              <a:t>?</a:t>
            </a:r>
            <a:endParaRPr lang="en-US" dirty="0"/>
          </a:p>
          <a:p>
            <a:r>
              <a:rPr lang="en-US" b="1" dirty="0"/>
              <a:t>2. BIC — Bayesian Information Criterion</a:t>
            </a:r>
          </a:p>
          <a:p>
            <a:r>
              <a:rPr lang="en-US" dirty="0"/>
              <a:t>BIC=-2log(L)+</a:t>
            </a:r>
            <a:r>
              <a:rPr lang="en-US" dirty="0" err="1"/>
              <a:t>klog</a:t>
            </a:r>
            <a:r>
              <a:rPr lang="en-US" dirty="0"/>
              <a:t>(n)</a:t>
            </a:r>
          </a:p>
          <a:p>
            <a:r>
              <a:rPr lang="en-US" dirty="0"/>
              <a:t>Conforme </a:t>
            </a:r>
            <a:r>
              <a:rPr lang="en-US" dirty="0" err="1"/>
              <a:t>aunmenta</a:t>
            </a:r>
            <a:r>
              <a:rPr lang="en-US" dirty="0"/>
              <a:t> n penalize </a:t>
            </a:r>
            <a:r>
              <a:rPr lang="en-US" dirty="0" err="1"/>
              <a:t>más</a:t>
            </a:r>
            <a:r>
              <a:rPr lang="en-US" dirty="0"/>
              <a:t>. </a:t>
            </a:r>
          </a:p>
          <a:p>
            <a:r>
              <a:rPr lang="en-US" dirty="0"/>
              <a:t>Un BIC es </a:t>
            </a:r>
            <a:r>
              <a:rPr lang="en-US" dirty="0" err="1"/>
              <a:t>menor</a:t>
            </a:r>
            <a:endParaRPr lang="en-US" dirty="0"/>
          </a:p>
          <a:p>
            <a:r>
              <a:rPr lang="en-US" dirty="0"/>
              <a:t>El BIC </a:t>
            </a:r>
            <a:r>
              <a:rPr lang="en-US" dirty="0" err="1"/>
              <a:t>suele</a:t>
            </a:r>
            <a:r>
              <a:rPr lang="en-US" dirty="0"/>
              <a:t> </a:t>
            </a:r>
            <a:r>
              <a:rPr lang="en-US" dirty="0" err="1"/>
              <a:t>favorecer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sencillos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0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400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Conceptos pendientes</vt:lpstr>
      <vt:lpstr>ANOVA como comparacion de modelos anidados</vt:lpstr>
      <vt:lpstr>Tipos de ANOVA en R</vt:lpstr>
      <vt:lpstr>Tipos de ANOVA en R</vt:lpstr>
      <vt:lpstr>Anova con SC tipo I</vt:lpstr>
      <vt:lpstr>Anova con SC tipo II</vt:lpstr>
      <vt:lpstr>Anova con SC tipo III</vt:lpstr>
      <vt:lpstr>AIC y BIC</vt:lpstr>
      <vt:lpstr>AIC y BIC comparan modelos</vt:lpstr>
      <vt:lpstr>AIC y BIC comparan modelos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Edsaul Perez Guerrero</dc:creator>
  <cp:lastModifiedBy>Edsaul Perez Guerrero</cp:lastModifiedBy>
  <cp:revision>1</cp:revision>
  <dcterms:created xsi:type="dcterms:W3CDTF">2026-10-04T18:23:12Z</dcterms:created>
  <dcterms:modified xsi:type="dcterms:W3CDTF">2026-10-04T20:24:27Z</dcterms:modified>
</cp:coreProperties>
</file>